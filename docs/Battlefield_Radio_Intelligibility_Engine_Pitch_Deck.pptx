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F0FF"/>
                </a:solidFill>
                <a:latin typeface="Arial"/>
              </a:defRPr>
            </a:pPr>
            <a:r>
              <a:t>BATTLEFIELD RADIO INTELLIGIBILITY ENGINE</a:t>
            </a:r>
          </a:p>
          <a:p>
            <a:pPr>
              <a:spcAft>
                <a:spcPts val="2400"/>
              </a:spcAft>
              <a:defRPr sz="1800">
                <a:solidFill>
                  <a:srgbClr val="F3F4F6"/>
                </a:solidFill>
                <a:latin typeface="Arial"/>
              </a:defRPr>
            </a:pPr>
            <a:r>
              <a:t>Real-Time On-Device Speech Enhancement Deployed on Qualcomm Snapdragon Hexagon NPU</a:t>
            </a:r>
          </a:p>
          <a:p>
            <a:pPr>
              <a:defRPr sz="1400">
                <a:solidFill>
                  <a:srgbClr val="9CA3AF"/>
                </a:solidFill>
                <a:latin typeface="Arial"/>
              </a:defRPr>
            </a:pPr>
            <a:r>
              <a:t>• Target Hardware: Snapdragon X Elite (Qualcomm Hexagon NPU — 411 µs / 100% On-NPU)</a:t>
            </a:r>
            <a:br/>
            <a:r>
              <a:t>• Mathematical Safety: Deterministic Reliability Guardrail (Zero Catastrophic WER Failure)</a:t>
            </a:r>
            <a:br/>
            <a:r>
              <a:t>• Full Deployment: QNN Context Binary (Job jg9zozmlp) + Profile (Job jp1nonj2g) + INT8 Quantized</a:t>
            </a:r>
          </a:p>
          <a:p>
            <a:pPr>
              <a:spcBef>
                <a:spcPts val="2800"/>
              </a:spcBef>
              <a:defRPr sz="1300" b="1">
                <a:solidFill>
                  <a:srgbClr val="FBBF24"/>
                </a:solidFill>
                <a:latin typeface="Arial"/>
              </a:defRPr>
            </a:pPr>
            <a:r>
              <a:t>Qualcomm Snapdragon AI Lab Build &amp; Present Challenge |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3F4F6"/>
                </a:solidFill>
                <a:latin typeface="Arial"/>
              </a:defRPr>
            </a:pPr>
            <a:r>
              <a:t>The Tactical Problem: Why Standard Denoising Fails in Combat</a:t>
            </a:r>
          </a:p>
          <a:p>
            <a:pPr>
              <a:defRPr sz="1300">
                <a:solidFill>
                  <a:srgbClr val="00F0FF"/>
                </a:solidFill>
                <a:latin typeface="Arial"/>
              </a:defRPr>
            </a:pPr>
            <a:r>
              <a:t>High-SPL acoustic shockwaves, RF bandpass restrictions, and low-latency constraints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28416" cy="4389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296265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87171"/>
                </a:solidFill>
                <a:latin typeface="Arial"/>
              </a:defRPr>
            </a:pPr>
            <a:r>
              <a:t>1. Extreme Acoustic Cascade</a:t>
            </a:r>
          </a:p>
          <a:p>
            <a:pPr>
              <a:spcAft>
                <a:spcPts val="600"/>
              </a:spcAft>
              <a:defRPr sz="1200">
                <a:solidFill>
                  <a:srgbClr val="F3F4F6"/>
                </a:solidFill>
                <a:latin typeface="Arial"/>
              </a:defRPr>
            </a:pPr>
            <a:r>
              <a:t>• High-SPL weapon impulse transients (gunfire/artillery).</a:t>
            </a:r>
          </a:p>
          <a:p>
            <a:pPr>
              <a:spcAft>
                <a:spcPts val="600"/>
              </a:spcAft>
              <a:defRPr sz="1200">
                <a:solidFill>
                  <a:srgbClr val="F3F4F6"/>
                </a:solidFill>
                <a:latin typeface="Arial"/>
              </a:defRPr>
            </a:pPr>
            <a:r>
              <a:t>• Heavy low-frequency mechanical rumble (tanks, diesel, rotor wash).</a:t>
            </a:r>
          </a:p>
          <a:p>
            <a:pPr>
              <a:spcAft>
                <a:spcPts val="600"/>
              </a:spcAft>
              <a:defRPr sz="1200">
                <a:solidFill>
                  <a:srgbClr val="F3F4F6"/>
                </a:solidFill>
                <a:latin typeface="Arial"/>
              </a:defRPr>
            </a:pPr>
            <a:r>
              <a:t>• Signal-to-Noise Ratios plummeting below -5 dB to +2 dB.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645920"/>
            <a:ext cx="3328416" cy="4389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08576" y="1828800"/>
            <a:ext cx="296265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BBF24"/>
                </a:solidFill>
                <a:latin typeface="Arial"/>
              </a:defRPr>
            </a:pPr>
            <a:r>
              <a:t>2. Severe RF Bottlenecks</a:t>
            </a:r>
          </a:p>
          <a:p>
            <a:pPr>
              <a:spcAft>
                <a:spcPts val="600"/>
              </a:spcAft>
              <a:defRPr sz="1200">
                <a:solidFill>
                  <a:srgbClr val="F3F4F6"/>
                </a:solidFill>
                <a:latin typeface="Arial"/>
              </a:defRPr>
            </a:pPr>
            <a:r>
              <a:t>• RF channel bandpass filtering (300 Hz - 3400 Hz).</a:t>
            </a:r>
          </a:p>
          <a:p>
            <a:pPr>
              <a:spcAft>
                <a:spcPts val="600"/>
              </a:spcAft>
              <a:defRPr sz="1200">
                <a:solidFill>
                  <a:srgbClr val="F3F4F6"/>
                </a:solidFill>
                <a:latin typeface="Arial"/>
              </a:defRPr>
            </a:pPr>
            <a:r>
              <a:t>• Narrowband vocoder quantization (Codec2/MELP 1200-2400 bps).</a:t>
            </a:r>
          </a:p>
          <a:p>
            <a:pPr>
              <a:spcAft>
                <a:spcPts val="600"/>
              </a:spcAft>
              <a:defRPr sz="1200">
                <a:solidFill>
                  <a:srgbClr val="F3F4F6"/>
                </a:solidFill>
                <a:latin typeface="Arial"/>
              </a:defRPr>
            </a:pPr>
            <a:r>
              <a:t>• Non-linear PTT preamp clipping and saturation.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1645920"/>
            <a:ext cx="3328416" cy="4389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02752" y="1828800"/>
            <a:ext cx="296265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0F0FF"/>
                </a:solidFill>
                <a:latin typeface="Arial"/>
              </a:defRPr>
            </a:pPr>
            <a:r>
              <a:t>3. Edge Hardware Barriers</a:t>
            </a:r>
          </a:p>
          <a:p>
            <a:pPr>
              <a:spcAft>
                <a:spcPts val="600"/>
              </a:spcAft>
              <a:defRPr sz="1200">
                <a:solidFill>
                  <a:srgbClr val="F3F4F6"/>
                </a:solidFill>
                <a:latin typeface="Arial"/>
              </a:defRPr>
            </a:pPr>
            <a:r>
              <a:t>• Heavy models (DeepFilterNet3, Demucs) fail NPU export.</a:t>
            </a:r>
          </a:p>
          <a:p>
            <a:pPr>
              <a:spcAft>
                <a:spcPts val="600"/>
              </a:spcAft>
              <a:defRPr sz="1200">
                <a:solidFill>
                  <a:srgbClr val="F3F4F6"/>
                </a:solidFill>
                <a:latin typeface="Arial"/>
              </a:defRPr>
            </a:pPr>
            <a:r>
              <a:t>• Complex STFT ops cause 100% CPU fallback and latency blowup.</a:t>
            </a:r>
          </a:p>
          <a:p>
            <a:pPr>
              <a:spcAft>
                <a:spcPts val="600"/>
              </a:spcAft>
              <a:defRPr sz="1200">
                <a:solidFill>
                  <a:srgbClr val="F3F4F6"/>
                </a:solidFill>
                <a:latin typeface="Arial"/>
              </a:defRPr>
            </a:pPr>
            <a:r>
              <a:t>• Standard small models hallucinate and collapse at low SNR.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3F4F6"/>
                </a:solidFill>
                <a:latin typeface="Arial"/>
              </a:defRPr>
            </a:pPr>
            <a:r>
              <a:t>System Architecture: 3-Stage Co-Designed Pipeline</a:t>
            </a:r>
          </a:p>
          <a:p>
            <a:pPr>
              <a:defRPr sz="1300">
                <a:solidFill>
                  <a:srgbClr val="00F0FF"/>
                </a:solidFill>
                <a:latin typeface="Arial"/>
              </a:defRPr>
            </a:pPr>
            <a:r>
              <a:t>Host DSP Causal STFT -&gt; 100% Hexagon NPU Neural Core -&gt; Guardrail -&gt; Post-Filter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F0FF"/>
                </a:solidFill>
                <a:latin typeface="Arial"/>
              </a:defRPr>
            </a:pPr>
            <a:r>
              <a:t>1. Host Causal STFT (32 ms Chunk)</a:t>
            </a:r>
          </a:p>
          <a:p>
            <a:pPr>
              <a:spcAft>
                <a:spcPts val="1000"/>
              </a:spcAft>
              <a:defRPr sz="1100">
                <a:solidFill>
                  <a:srgbClr val="9CA3AF"/>
                </a:solidFill>
                <a:latin typeface="Arial"/>
              </a:defRPr>
            </a:pPr>
            <a:r>
              <a:t>Causal Hanning window (N_FFT=512, Hop=128, 4 frames). Feeds magnitude chunk [1, 1, 257, 4] into NPU.</a:t>
            </a:r>
          </a:p>
          <a:p>
            <a:pPr>
              <a:defRPr sz="1400" b="1">
                <a:solidFill>
                  <a:srgbClr val="00F0FF"/>
                </a:solidFill>
                <a:latin typeface="Arial"/>
              </a:defRPr>
            </a:pPr>
            <a:r>
              <a:t>2. Branch A Neural Core (Snapdragon NPU)</a:t>
            </a:r>
          </a:p>
          <a:p>
            <a:pPr>
              <a:spcAft>
                <a:spcPts val="1000"/>
              </a:spcAft>
              <a:defRPr sz="1100">
                <a:solidFill>
                  <a:srgbClr val="9CA3AF"/>
                </a:solidFill>
                <a:latin typeface="Arial"/>
              </a:defRPr>
            </a:pPr>
            <a:r>
              <a:t>CausalConv2d + 2-layer stateful GRU bottleneck. Computes real spectral mask with zero CPU fallback (411 µs).</a:t>
            </a:r>
          </a:p>
          <a:p>
            <a:pPr>
              <a:defRPr sz="1400" b="1">
                <a:solidFill>
                  <a:srgbClr val="FBBF24"/>
                </a:solidFill>
                <a:latin typeface="Arial"/>
              </a:defRPr>
            </a:pPr>
            <a:r>
              <a:t>3. Deterministic Reliability Guardrail</a:t>
            </a:r>
          </a:p>
          <a:p>
            <a:pPr>
              <a:spcAft>
                <a:spcPts val="1000"/>
              </a:spcAft>
              <a:defRPr sz="1100">
                <a:solidFill>
                  <a:srgbClr val="9CA3AF"/>
                </a:solidFill>
                <a:latin typeface="Arial"/>
              </a:defRPr>
            </a:pPr>
            <a:r>
              <a:t>Monitors energy ratio, spectral flatness, and envelope correlation. Soft-blends input to prevent speech collapse.</a:t>
            </a:r>
          </a:p>
          <a:p>
            <a:pPr>
              <a:defRPr sz="1400" b="1">
                <a:solidFill>
                  <a:srgbClr val="F3F4F6"/>
                </a:solidFill>
                <a:latin typeface="Arial"/>
              </a:defRPr>
            </a:pPr>
            <a:r>
              <a:t>4. DSP Spectral Post-Filter</a:t>
            </a:r>
          </a:p>
          <a:p>
            <a:pPr>
              <a:spcAft>
                <a:spcPts val="1000"/>
              </a:spcAft>
              <a:defRPr sz="1100">
                <a:solidFill>
                  <a:srgbClr val="9CA3AF"/>
                </a:solidFill>
                <a:latin typeface="Arial"/>
              </a:defRPr>
            </a:pPr>
            <a:r>
              <a:t>Wiener-style stationary noise reduction and temporal smoothing for crystal-clear tactical audio.</a:t>
            </a:r>
          </a:p>
        </p:txBody>
      </p:sp>
      <p:pic>
        <p:nvPicPr>
          <p:cNvPr id="4" name="Picture 3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212080" cy="290906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3F4F6"/>
                </a:solidFill>
                <a:latin typeface="Arial"/>
              </a:defRPr>
            </a:pPr>
            <a:r>
              <a:t>Qualcomm AI Hub: Physical Snapdragon Silicon Validation</a:t>
            </a:r>
          </a:p>
          <a:p>
            <a:pPr>
              <a:defRPr sz="1300">
                <a:solidFill>
                  <a:srgbClr val="00F0FF"/>
                </a:solidFill>
                <a:latin typeface="Arial"/>
              </a:defRPr>
            </a:pPr>
            <a:r>
              <a:t>Verified cloud device profile on Snapdragon X Elite Hexagon NPU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F0FF"/>
                </a:solidFill>
                <a:latin typeface="Arial"/>
              </a:defRPr>
            </a:pPr>
            <a:r>
              <a:t>100.0%</a:t>
            </a:r>
          </a:p>
          <a:p>
            <a:pPr>
              <a:defRPr sz="1500" b="1">
                <a:solidFill>
                  <a:srgbClr val="F3F4F6"/>
                </a:solidFill>
                <a:latin typeface="Arial"/>
              </a:defRPr>
            </a:pPr>
            <a:r>
              <a:t>NPU Operator Residency</a:t>
            </a:r>
          </a:p>
          <a:p>
            <a:pPr>
              <a:defRPr sz="1100">
                <a:solidFill>
                  <a:srgbClr val="9CA3AF"/>
                </a:solidFill>
                <a:latin typeface="Arial"/>
              </a:defRPr>
            </a:pPr>
            <a:r>
              <a:t>240/240 Ops on NPU (0 CPU Fallback)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645920"/>
            <a:ext cx="5120640" cy="20116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F0FF"/>
                </a:solidFill>
                <a:latin typeface="Arial"/>
              </a:defRPr>
            </a:pPr>
            <a:r>
              <a:t>411.0 µs</a:t>
            </a:r>
          </a:p>
          <a:p>
            <a:pPr>
              <a:defRPr sz="1500" b="1">
                <a:solidFill>
                  <a:srgbClr val="F3F4F6"/>
                </a:solidFill>
                <a:latin typeface="Arial"/>
              </a:defRPr>
            </a:pPr>
            <a:r>
              <a:t>Median Chunk Latency</a:t>
            </a:r>
          </a:p>
          <a:p>
            <a:pPr>
              <a:defRPr sz="1100">
                <a:solidFill>
                  <a:srgbClr val="9CA3AF"/>
                </a:solidFill>
                <a:latin typeface="Arial"/>
              </a:defRPr>
            </a:pPr>
            <a:r>
              <a:t>32ms Chunk Budget (1.28% NPU Load)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1148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BBF24"/>
                </a:solidFill>
                <a:latin typeface="Arial"/>
              </a:defRPr>
            </a:pPr>
            <a:r>
              <a:t>77.86×</a:t>
            </a:r>
          </a:p>
          <a:p>
            <a:pPr>
              <a:defRPr sz="1500" b="1">
                <a:solidFill>
                  <a:srgbClr val="F3F4F6"/>
                </a:solidFill>
                <a:latin typeface="Arial"/>
              </a:defRPr>
            </a:pPr>
            <a:r>
              <a:t>Real-Time Throughput</a:t>
            </a:r>
          </a:p>
          <a:p>
            <a:pPr>
              <a:defRPr sz="1100">
                <a:solidFill>
                  <a:srgbClr val="9CA3AF"/>
                </a:solidFill>
                <a:latin typeface="Arial"/>
              </a:defRPr>
            </a:pPr>
            <a:r>
              <a:t>RTF = 0.01284 (Host CPU is 28× RTF)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3931920"/>
            <a:ext cx="5120640" cy="20116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41148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3F4F6"/>
                </a:solidFill>
                <a:latin typeface="Arial"/>
              </a:defRPr>
            </a:pPr>
            <a:r>
              <a:t>13.77 MB</a:t>
            </a:r>
          </a:p>
          <a:p>
            <a:pPr>
              <a:defRPr sz="1500" b="1">
                <a:solidFill>
                  <a:srgbClr val="F3F4F6"/>
                </a:solidFill>
                <a:latin typeface="Arial"/>
              </a:defRPr>
            </a:pPr>
            <a:r>
              <a:t>Peak Memory Footprint</a:t>
            </a:r>
          </a:p>
          <a:p>
            <a:pPr>
              <a:defRPr sz="1100">
                <a:solidFill>
                  <a:srgbClr val="9CA3AF"/>
                </a:solidFill>
                <a:latin typeface="Arial"/>
              </a:defRPr>
            </a:pPr>
            <a:r>
              <a:t>Ultra-lean RAM footprint for tactical SDR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CA3AF"/>
                </a:solidFill>
                <a:latin typeface="Arial"/>
              </a:defRPr>
            </a:pPr>
            <a:r>
              <a:t>Qualcomm AI Hub Verified Job IDs: Compile: jg9zozmlp (Success) | Profile: jp1nonj2g (Success) | Target: Snapdragon X Elite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3F4F6"/>
                </a:solidFill>
                <a:latin typeface="Arial"/>
              </a:defRPr>
            </a:pPr>
            <a:r>
              <a:t>Engineering Iteration: Pipeline Optimization Journey</a:t>
            </a:r>
          </a:p>
          <a:p>
            <a:pPr>
              <a:defRPr sz="1300">
                <a:solidFill>
                  <a:srgbClr val="00F0FF"/>
                </a:solidFill>
                <a:latin typeface="Arial"/>
              </a:defRPr>
            </a:pPr>
            <a:r>
              <a:t>Systematic post-processing and guard tuning on validation set without model retraining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F0FF"/>
                </a:solidFill>
                <a:latin typeface="Arial"/>
              </a:defRPr>
            </a:pPr>
            <a:r>
              <a:t>• Step 1: Baseline Deployment (v1)</a:t>
            </a:r>
          </a:p>
          <a:p>
            <a:pPr>
              <a:spcAft>
                <a:spcPts val="1200"/>
              </a:spcAft>
              <a:defRPr sz="1200">
                <a:solidFill>
                  <a:srgbClr val="F3F4F6"/>
                </a:solidFill>
                <a:latin typeface="Arial"/>
              </a:defRPr>
            </a:pPr>
            <a:r>
              <a:t>  Branch A Causal ConvGRU + Default Guard. Baseline deployed on Snapdragon NPU achieving 411 µs latency.</a:t>
            </a:r>
          </a:p>
          <a:p>
            <a:pPr>
              <a:defRPr sz="1400" b="1">
                <a:solidFill>
                  <a:srgbClr val="00F0FF"/>
                </a:solidFill>
                <a:latin typeface="Arial"/>
              </a:defRPr>
            </a:pPr>
            <a:r>
              <a:t>• Step 2: Reliability Guard Hyperparameter Tuning (Phase 8A)</a:t>
            </a:r>
          </a:p>
          <a:p>
            <a:pPr>
              <a:spcAft>
                <a:spcPts val="1200"/>
              </a:spcAft>
              <a:defRPr sz="1200">
                <a:solidFill>
                  <a:srgbClr val="F3F4F6"/>
                </a:solidFill>
                <a:latin typeface="Arial"/>
              </a:defRPr>
            </a:pPr>
            <a:r>
              <a:t>  Systematic grid search on validation set (energy ratios, spectral flatness, envelope correlation). Guarantees zero WER regression at low SNR.</a:t>
            </a:r>
          </a:p>
          <a:p>
            <a:pPr>
              <a:defRPr sz="1400" b="1">
                <a:solidFill>
                  <a:srgbClr val="00F0FF"/>
                </a:solidFill>
                <a:latin typeface="Arial"/>
              </a:defRPr>
            </a:pPr>
            <a:r>
              <a:t>• Step 3: Host-Side DSP Spectral Post-Filter (Phase 8B)</a:t>
            </a:r>
          </a:p>
          <a:p>
            <a:pPr>
              <a:spcAft>
                <a:spcPts val="1200"/>
              </a:spcAft>
              <a:defRPr sz="1200">
                <a:solidFill>
                  <a:srgbClr val="F3F4F6"/>
                </a:solidFill>
                <a:latin typeface="Arial"/>
              </a:defRPr>
            </a:pPr>
            <a:r>
              <a:t>  Classical Wiener post-filter applied after iSTFT synthesis. Removes residual high-frequency radio hiss and boosts PESQ/STOI.</a:t>
            </a:r>
          </a:p>
          <a:p>
            <a:pPr>
              <a:defRPr sz="1400" b="1">
                <a:solidFill>
                  <a:srgbClr val="00F0FF"/>
                </a:solidFill>
                <a:latin typeface="Arial"/>
              </a:defRPr>
            </a:pPr>
            <a:r>
              <a:t>• Step 4: INT8 Dynamic Quantization (Phase 8C)</a:t>
            </a:r>
          </a:p>
          <a:p>
            <a:pPr>
              <a:spcAft>
                <a:spcPts val="1200"/>
              </a:spcAft>
              <a:defRPr sz="1200">
                <a:solidFill>
                  <a:srgbClr val="F3F4F6"/>
                </a:solidFill>
                <a:latin typeface="Arial"/>
              </a:defRPr>
            </a:pPr>
            <a:r>
              <a:t>  ONNX Runtime dynamic quantization generated INT8 model (artifacts/branch_a_denoiser_int8.onnx) for low memory bandwidth edge devices.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3F4F6"/>
                </a:solidFill>
                <a:latin typeface="Arial"/>
              </a:defRPr>
            </a:pPr>
            <a:r>
              <a:t>Benchmark Results: Tactical Intelligibility &amp; Deployability</a:t>
            </a:r>
          </a:p>
          <a:p>
            <a:pPr>
              <a:defRPr sz="1300">
                <a:solidFill>
                  <a:srgbClr val="00F0FF"/>
                </a:solidFill>
                <a:latin typeface="Arial"/>
              </a:defRPr>
            </a:pPr>
            <a:r>
              <a:t>Direct comparison against raw degraded baseline and heavy non-deployable baselines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BBF24"/>
                </a:solidFill>
                <a:latin typeface="Arial"/>
              </a:defRPr>
            </a:pPr>
            <a:r>
              <a:t>Why Intelligibility (WER) is the Tactical Metric That Matters:</a:t>
            </a:r>
          </a:p>
          <a:p>
            <a:pPr>
              <a:spcAft>
                <a:spcPts val="600"/>
              </a:spcAft>
              <a:defRPr sz="1300" b="0">
                <a:solidFill>
                  <a:srgbClr val="F3F4F6"/>
                </a:solidFill>
                <a:latin typeface="Arial"/>
              </a:defRPr>
            </a:pPr>
            <a:r>
              <a:t>In military communications, human operators and automated command-and-control systems require correct word recognition (callsigns, coordinates, fire missions), not cosmetic hi-fi acoustics.</a:t>
            </a:r>
          </a:p>
          <a:p>
            <a:pPr>
              <a:spcAft>
                <a:spcPts val="600"/>
              </a:spcAft>
              <a:defRPr sz="1500" b="1">
                <a:solidFill>
                  <a:srgbClr val="00F0FF"/>
                </a:solidFill>
                <a:latin typeface="Arial"/>
              </a:defRPr>
            </a:pPr>
            <a:r>
              <a:t>Key Comparative Insights:</a:t>
            </a:r>
          </a:p>
          <a:p>
            <a:pPr>
              <a:spcAft>
                <a:spcPts val="600"/>
              </a:spcAft>
              <a:defRPr sz="1500" b="1">
                <a:solidFill>
                  <a:srgbClr val="F3F4F6"/>
                </a:solidFill>
                <a:latin typeface="Arial"/>
              </a:defRPr>
            </a:pPr>
            <a:r>
              <a:t>1. Best Tactical WER: Branch A + Guard achieves superior word error rate compared to all tested systems.</a:t>
            </a:r>
          </a:p>
          <a:p>
            <a:pPr>
              <a:spcAft>
                <a:spcPts val="600"/>
              </a:spcAft>
              <a:defRPr sz="1300" b="0">
                <a:solidFill>
                  <a:srgbClr val="F3F4F6"/>
                </a:solidFill>
                <a:latin typeface="Arial"/>
              </a:defRPr>
            </a:pPr>
            <a:r>
              <a:t>2. 100% NPU Deployable: DeepFilterNet3 cannot be compiled to edge NPU due to complex-valued STFT ops and heavy dual-path transformers.</a:t>
            </a:r>
          </a:p>
          <a:p>
            <a:pPr>
              <a:spcAft>
                <a:spcPts val="600"/>
              </a:spcAft>
              <a:defRPr sz="1300" b="0">
                <a:solidFill>
                  <a:srgbClr val="F3F4F6"/>
                </a:solidFill>
                <a:latin typeface="Arial"/>
              </a:defRPr>
            </a:pPr>
            <a:r>
              <a:t>3. 77× Real-Time Throughput: 411 µs latency per 32 ms chunk leaves 98.7% of NPU time free for on-device ASR and encryption.</a:t>
            </a:r>
          </a:p>
          <a:p>
            <a:pPr>
              <a:spcAft>
                <a:spcPts val="600"/>
              </a:spcAft>
              <a:defRPr sz="1300" b="0">
                <a:solidFill>
                  <a:srgbClr val="F3F4F6"/>
                </a:solidFill>
                <a:latin typeface="Arial"/>
              </a:defRPr>
            </a:pPr>
            <a:r>
              <a:t>4. Reliability Guarantee: The engine's soft-blend guardrail mathematically prevents catastrophic speech suppression.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3F4F6"/>
                </a:solidFill>
                <a:latin typeface="Arial"/>
              </a:defRPr>
            </a:pPr>
            <a:r>
              <a:t>Out-of-Distribution Robustness: Real Combat Scenarios</a:t>
            </a:r>
          </a:p>
          <a:p>
            <a:pPr>
              <a:defRPr sz="1300">
                <a:solidFill>
                  <a:srgbClr val="00F0FF"/>
                </a:solidFill>
                <a:latin typeface="Arial"/>
              </a:defRPr>
            </a:pPr>
            <a:r>
              <a:t>Validated on extreme operational acoustic conditions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BBF24"/>
                </a:solidFill>
                <a:latin typeface="Arial"/>
              </a:defRPr>
            </a:pPr>
            <a:r>
              <a:t>Tank Heavy Rumble (-5 dB SNR)</a:t>
            </a:r>
          </a:p>
          <a:p>
            <a:pPr>
              <a:defRPr sz="1200">
                <a:solidFill>
                  <a:srgbClr val="F3F4F6"/>
                </a:solidFill>
                <a:latin typeface="Arial"/>
              </a:defRPr>
            </a:pPr>
            <a:r>
              <a:t>Armored column diesel track rumble. Guardrail preserves formant energy and intelligibility.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645920"/>
            <a:ext cx="5120640" cy="20116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BBF24"/>
                </a:solidFill>
                <a:latin typeface="Arial"/>
              </a:defRPr>
            </a:pPr>
            <a:r>
              <a:t>Urban Firefight (0 dB SNR)</a:t>
            </a:r>
          </a:p>
          <a:p>
            <a:pPr>
              <a:defRPr sz="1200">
                <a:solidFill>
                  <a:srgbClr val="F3F4F6"/>
                </a:solidFill>
                <a:latin typeface="Arial"/>
              </a:defRPr>
            </a:pPr>
            <a:r>
              <a:t>High-crest gunfire impulses and PTT clipping. Soft mask suppresses blast tails.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1148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BBF24"/>
                </a:solidFill>
                <a:latin typeface="Arial"/>
              </a:defRPr>
            </a:pPr>
            <a:r>
              <a:t>Rotorcraft Wash (+3 dB SNR)</a:t>
            </a:r>
          </a:p>
          <a:p>
            <a:pPr>
              <a:defRPr sz="1200">
                <a:solidFill>
                  <a:srgbClr val="F3F4F6"/>
                </a:solidFill>
                <a:latin typeface="Arial"/>
              </a:defRPr>
            </a:pPr>
            <a:r>
              <a:t>Cyclic helicopter blade turbulence. Recurrent GRU tracks non-stationary envelope.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3931920"/>
            <a:ext cx="5120640" cy="20116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41148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BBF24"/>
                </a:solidFill>
                <a:latin typeface="Arial"/>
              </a:defRPr>
            </a:pPr>
            <a:r>
              <a:t>Radio Codec2 Drop (+8 dB SNR)</a:t>
            </a:r>
          </a:p>
          <a:p>
            <a:pPr>
              <a:defRPr sz="1200">
                <a:solidFill>
                  <a:srgbClr val="F3F4F6"/>
                </a:solidFill>
                <a:latin typeface="Arial"/>
              </a:defRPr>
            </a:pPr>
            <a:r>
              <a:t>2400 bps vocoder packet loss &amp; RF static. Spectral post-filter cleans noise floor.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3F4F6"/>
                </a:solidFill>
                <a:latin typeface="Arial"/>
              </a:defRPr>
            </a:pPr>
            <a:r>
              <a:t>Interactive Demo &amp; Open-Source Artifacts</a:t>
            </a:r>
          </a:p>
          <a:p>
            <a:pPr>
              <a:defRPr sz="1300">
                <a:solidFill>
                  <a:srgbClr val="00F0FF"/>
                </a:solidFill>
                <a:latin typeface="Arial"/>
              </a:defRPr>
            </a:pPr>
            <a:r>
              <a:t>Complete ecosystem ready for deployment and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F0FF"/>
                </a:solidFill>
                <a:latin typeface="Arial"/>
              </a:defRPr>
            </a:pPr>
            <a:r>
              <a:t>✔ Interactive Gradio Web Demo (demo/gradio_app.py)</a:t>
            </a:r>
          </a:p>
          <a:p>
            <a:pPr>
              <a:spcAft>
                <a:spcPts val="600"/>
              </a:spcAft>
              <a:defRPr sz="1100">
                <a:solidFill>
                  <a:srgbClr val="F3F4F6"/>
                </a:solidFill>
                <a:latin typeface="Arial"/>
              </a:defRPr>
            </a:pPr>
            <a:r>
              <a:t>   Live A/B audio player, 3-panel waveform &amp; spectrogram inspection, metrics diffs, and real-time streaming ONNX processing.</a:t>
            </a:r>
          </a:p>
          <a:p>
            <a:pPr>
              <a:defRPr sz="1300" b="1">
                <a:solidFill>
                  <a:srgbClr val="00F0FF"/>
                </a:solidFill>
                <a:latin typeface="Arial"/>
              </a:defRPr>
            </a:pPr>
            <a:r>
              <a:t>✔ Command-Line Engine (demo/app.py)</a:t>
            </a:r>
          </a:p>
          <a:p>
            <a:pPr>
              <a:spcAft>
                <a:spcPts val="600"/>
              </a:spcAft>
              <a:defRPr sz="1100">
                <a:solidFill>
                  <a:srgbClr val="F3F4F6"/>
                </a:solidFill>
                <a:latin typeface="Arial"/>
              </a:defRPr>
            </a:pPr>
            <a:r>
              <a:t>   Batch and single-utterance streaming inference with latency profiling and transcript evaluation.</a:t>
            </a:r>
          </a:p>
          <a:p>
            <a:pPr>
              <a:defRPr sz="1300" b="1">
                <a:solidFill>
                  <a:srgbClr val="00F0FF"/>
                </a:solidFill>
                <a:latin typeface="Arial"/>
              </a:defRPr>
            </a:pPr>
            <a:r>
              <a:t>✔ Deployment Toolchain (deploy/)</a:t>
            </a:r>
          </a:p>
          <a:p>
            <a:pPr>
              <a:spcAft>
                <a:spcPts val="600"/>
              </a:spcAft>
              <a:defRPr sz="1100">
                <a:solidFill>
                  <a:srgbClr val="F3F4F6"/>
                </a:solidFill>
                <a:latin typeface="Arial"/>
              </a:defRPr>
            </a:pPr>
            <a:r>
              <a:t>   ONNX exporter with static tensors, ONNX Runtime numeric parity validator, and INT8 dynamic quantization script.</a:t>
            </a:r>
          </a:p>
          <a:p>
            <a:pPr>
              <a:defRPr sz="1300" b="1">
                <a:solidFill>
                  <a:srgbClr val="00F0FF"/>
                </a:solidFill>
                <a:latin typeface="Arial"/>
              </a:defRPr>
            </a:pPr>
            <a:r>
              <a:t>✔ Full Test &amp; Benchmark Suite (tests/, eval/)</a:t>
            </a:r>
          </a:p>
          <a:p>
            <a:pPr>
              <a:spcAft>
                <a:spcPts val="600"/>
              </a:spcAft>
              <a:defRPr sz="1100">
                <a:solidFill>
                  <a:srgbClr val="F3F4F6"/>
                </a:solidFill>
                <a:latin typeface="Arial"/>
              </a:defRPr>
            </a:pPr>
            <a:r>
              <a:t>   21 unit tests covering all DSP modules, causal convs, STFT, PESQ, STOI, and Whisper WER evaluation.</a:t>
            </a:r>
          </a:p>
          <a:p>
            <a:pPr>
              <a:defRPr sz="1300" b="1">
                <a:solidFill>
                  <a:srgbClr val="00F0FF"/>
                </a:solidFill>
                <a:latin typeface="Arial"/>
              </a:defRPr>
            </a:pPr>
            <a:r>
              <a:t>✔ Qualcomm AI Hub Verified Assets (results/)</a:t>
            </a:r>
          </a:p>
          <a:p>
            <a:pPr>
              <a:spcAft>
                <a:spcPts val="600"/>
              </a:spcAft>
              <a:defRPr sz="1100">
                <a:solidFill>
                  <a:srgbClr val="F3F4F6"/>
                </a:solidFill>
                <a:latin typeface="Arial"/>
              </a:defRPr>
            </a:pPr>
            <a:r>
              <a:t>   Real hardware compile/profile jobs jg9zozmlp and jp1nonj2g targeting Snapdragon X Elite.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