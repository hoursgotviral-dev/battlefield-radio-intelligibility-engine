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  <a:latin typeface="Arial"/>
              </a:defRPr>
            </a:pPr>
            <a:r>
              <a:t>BATTLEFIELD RADIO INTELLIGIBILITY ENGINE</a:t>
            </a:r>
          </a:p>
          <a:p>
            <a:pPr>
              <a:spcAft>
                <a:spcPts val="2400"/>
              </a:spcAft>
              <a:defRPr sz="1800">
                <a:solidFill>
                  <a:srgbClr val="F3F4F6"/>
                </a:solidFill>
                <a:latin typeface="Arial"/>
              </a:defRPr>
            </a:pPr>
            <a:r>
              <a:t>Real-Time On-Device Speech Enhancement Deployed on Qualcomm Snapdragon Hexagon NPU</a:t>
            </a:r>
          </a:p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• Target Hardware: Snapdragon X Elite (Qualcomm Hexagon NPU — 411 µs / 100% On-NPU)</a:t>
            </a:r>
            <a:br/>
            <a:r>
              <a:t>• Dual Tactical Modes: Intelligibility Mode (0.409 WER) vs. Quality Mode (2.398 PESQ)</a:t>
            </a:r>
            <a:br/>
            <a:r>
              <a:t>• Full Deployment: QNN Context Binary (Job jg9zozmlp) + Profile (Job jp1nonj2g) + INT8 Quantized</a:t>
            </a:r>
          </a:p>
          <a:p>
            <a:pPr>
              <a:spcBef>
                <a:spcPts val="2800"/>
              </a:spcBef>
              <a:defRPr sz="1300" b="1">
                <a:solidFill>
                  <a:srgbClr val="FBBF24"/>
                </a:solidFill>
                <a:latin typeface="Arial"/>
              </a:defRPr>
            </a:pPr>
            <a:r>
              <a:t>Qualcomm Snapdragon AI Lab Build &amp; Present Challenge |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The Tactical Problem: Why Standard Denoising Fails in Combat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High-SPL acoustic shockwaves, RF bandpass restrictions, and low-latency constraints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87171"/>
                </a:solidFill>
                <a:latin typeface="Arial"/>
              </a:defRPr>
            </a:pPr>
            <a:r>
              <a:t>1. Extreme Acoustic Cascade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High-SPL weapon impulse transients (gunfire/artillery).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Heavy low-frequency mechanical rumble (tanks, diesel, rotor wash).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Signal-to-Noise Ratios plummeting below -5 dB to +2 dB.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BBF24"/>
                </a:solidFill>
                <a:latin typeface="Arial"/>
              </a:defRPr>
            </a:pPr>
            <a:r>
              <a:t>2. Severe RF Bottlenecks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RF channel bandpass filtering (300 Hz - 3400 Hz).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Narrowband vocoder quantization (Codec2/MELP 1200-2400 bps).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Non-linear PTT preamp clipping and saturation.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0F0FF"/>
                </a:solidFill>
                <a:latin typeface="Arial"/>
              </a:defRPr>
            </a:pPr>
            <a:r>
              <a:t>3. Edge Hardware Barriers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Heavy models (DeepFilterNet3, Demucs) fail NPU export.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Complex STFT ops cause 100% CPU fallback and latency blowup.</a:t>
            </a:r>
          </a:p>
          <a:p>
            <a:pPr>
              <a:spcAft>
                <a:spcPts val="6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• Standard small models hallucinate and collapse at low SNR.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System Architecture: 3-Stage Co-Designed Pipeline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Host DSP Causal STFT -&gt; 100% Hexagon NPU Neural Core -&gt; Guardrail -&gt; Post-Filter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1. Host Causal STFT (32 ms Chunk)</a:t>
            </a:r>
          </a:p>
          <a:p>
            <a:pPr>
              <a:spcAft>
                <a:spcPts val="1000"/>
              </a:spcAft>
              <a:defRPr sz="1100">
                <a:solidFill>
                  <a:srgbClr val="9CA3AF"/>
                </a:solidFill>
                <a:latin typeface="Arial"/>
              </a:defRPr>
            </a:pPr>
            <a:r>
              <a:t>Causal Hanning window (N_FFT=512, Hop=128, 4 frames). Feeds magnitude chunk [1, 1, 257, 4] into NPU.</a:t>
            </a:r>
          </a:p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2. Branch A Neural Core (Snapdragon NPU)</a:t>
            </a:r>
          </a:p>
          <a:p>
            <a:pPr>
              <a:spcAft>
                <a:spcPts val="1000"/>
              </a:spcAft>
              <a:defRPr sz="1100">
                <a:solidFill>
                  <a:srgbClr val="9CA3AF"/>
                </a:solidFill>
                <a:latin typeface="Arial"/>
              </a:defRPr>
            </a:pPr>
            <a:r>
              <a:t>CausalConv2d + 2-layer stateful GRU bottleneck. Computes real spectral mask with zero CPU fallback (411 µs).</a:t>
            </a:r>
          </a:p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3. Deterministic Reliability Guardrail</a:t>
            </a:r>
          </a:p>
          <a:p>
            <a:pPr>
              <a:spcAft>
                <a:spcPts val="1000"/>
              </a:spcAft>
              <a:defRPr sz="1100">
                <a:solidFill>
                  <a:srgbClr val="9CA3AF"/>
                </a:solidFill>
                <a:latin typeface="Arial"/>
              </a:defRPr>
            </a:pPr>
            <a:r>
              <a:t>Monitors energy ratio, spectral flatness, and envelope correlation. Soft-blends input to prevent speech collapse.</a:t>
            </a:r>
          </a:p>
          <a:p>
            <a:pPr>
              <a:defRPr sz="1400" b="1">
                <a:solidFill>
                  <a:srgbClr val="F3F4F6"/>
                </a:solidFill>
                <a:latin typeface="Arial"/>
              </a:defRPr>
            </a:pPr>
            <a:r>
              <a:t>4. DSP Spectral Post-Filter</a:t>
            </a:r>
          </a:p>
          <a:p>
            <a:pPr>
              <a:spcAft>
                <a:spcPts val="1000"/>
              </a:spcAft>
              <a:defRPr sz="1100">
                <a:solidFill>
                  <a:srgbClr val="9CA3AF"/>
                </a:solidFill>
                <a:latin typeface="Arial"/>
              </a:defRPr>
            </a:pPr>
            <a:r>
              <a:t>Wiener-style stationary noise reduction and temporal smoothing for crystal-clear tactical audio.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29090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Qualcomm AI Hub: Physical Snapdragon Silicon Validation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Verified cloud device profile on Snapdragon X Elite Hexagon NPU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0FF"/>
                </a:solidFill>
                <a:latin typeface="Arial"/>
              </a:defRPr>
            </a:pPr>
            <a:r>
              <a:t>100.0%</a:t>
            </a:r>
          </a:p>
          <a:p>
            <a:pPr>
              <a:defRPr sz="1500" b="1">
                <a:solidFill>
                  <a:srgbClr val="F3F4F6"/>
                </a:solidFill>
                <a:latin typeface="Arial"/>
              </a:defRPr>
            </a:pPr>
            <a:r>
              <a:t>NPU Operator Residency</a:t>
            </a:r>
          </a:p>
          <a:p>
            <a:pPr>
              <a:defRPr sz="1100">
                <a:solidFill>
                  <a:srgbClr val="9CA3AF"/>
                </a:solidFill>
                <a:latin typeface="Arial"/>
              </a:defRPr>
            </a:pPr>
            <a:r>
              <a:t>240/240 Ops on NPU (0 CPU Fallback)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0FF"/>
                </a:solidFill>
                <a:latin typeface="Arial"/>
              </a:defRPr>
            </a:pPr>
            <a:r>
              <a:t>411.0 µs</a:t>
            </a:r>
          </a:p>
          <a:p>
            <a:pPr>
              <a:defRPr sz="1500" b="1">
                <a:solidFill>
                  <a:srgbClr val="F3F4F6"/>
                </a:solidFill>
                <a:latin typeface="Arial"/>
              </a:defRPr>
            </a:pPr>
            <a:r>
              <a:t>Median Chunk Latency</a:t>
            </a:r>
          </a:p>
          <a:p>
            <a:pPr>
              <a:defRPr sz="1100">
                <a:solidFill>
                  <a:srgbClr val="9CA3AF"/>
                </a:solidFill>
                <a:latin typeface="Arial"/>
              </a:defRPr>
            </a:pPr>
            <a:r>
              <a:t>32ms Chunk Budget (1.28% NPU Load)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Arial"/>
              </a:defRPr>
            </a:pPr>
            <a:r>
              <a:t>77.86×</a:t>
            </a:r>
          </a:p>
          <a:p>
            <a:pPr>
              <a:defRPr sz="1500" b="1">
                <a:solidFill>
                  <a:srgbClr val="F3F4F6"/>
                </a:solidFill>
                <a:latin typeface="Arial"/>
              </a:defRPr>
            </a:pPr>
            <a:r>
              <a:t>Real-Time Throughput</a:t>
            </a:r>
          </a:p>
          <a:p>
            <a:pPr>
              <a:defRPr sz="1100">
                <a:solidFill>
                  <a:srgbClr val="9CA3AF"/>
                </a:solidFill>
                <a:latin typeface="Arial"/>
              </a:defRPr>
            </a:pPr>
            <a:r>
              <a:t>RTF = 0.01284 (Host CPU is 28× RTF)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3F4F6"/>
                </a:solidFill>
                <a:latin typeface="Arial"/>
              </a:defRPr>
            </a:pPr>
            <a:r>
              <a:t>13.77 MB</a:t>
            </a:r>
          </a:p>
          <a:p>
            <a:pPr>
              <a:defRPr sz="1500" b="1">
                <a:solidFill>
                  <a:srgbClr val="F3F4F6"/>
                </a:solidFill>
                <a:latin typeface="Arial"/>
              </a:defRPr>
            </a:pPr>
            <a:r>
              <a:t>Peak Memory Footprint</a:t>
            </a:r>
          </a:p>
          <a:p>
            <a:pPr>
              <a:defRPr sz="1100">
                <a:solidFill>
                  <a:srgbClr val="9CA3AF"/>
                </a:solidFill>
                <a:latin typeface="Arial"/>
              </a:defRPr>
            </a:pPr>
            <a:r>
              <a:t>Ultra-lean RAM footprint for tactical SDR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CA3AF"/>
                </a:solidFill>
                <a:latin typeface="Arial"/>
              </a:defRPr>
            </a:pPr>
            <a:r>
              <a:t>Qualcomm AI Hub Verified Job IDs: Compile: jg9zozmlp (Success) | Profile: jp1nonj2g (Success) | Target: Snapdragon X Elite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Engineering Iteration: Pipeline Optimization Journey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Systematic post-processing and guard tuning on validation set without model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• Step 1: Baseline Deployment (v1)</a:t>
            </a:r>
          </a:p>
          <a:p>
            <a:pPr>
              <a:spcAft>
                <a:spcPts val="12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  Branch A Causal ConvGRU + Default Guard. Baseline deployed on Snapdragon NPU achieving 411 µs latency (PESQ: 1.232, STOI: 0.758).</a:t>
            </a:r>
          </a:p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• Step 2: Reliability Guard Hyperparameter Tuning (Phase 8A — ASR Mode)</a:t>
            </a:r>
          </a:p>
          <a:p>
            <a:pPr>
              <a:spcAft>
                <a:spcPts val="12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  Systematic grid search on validation set (energy ratios, spectral flatness, envelope correlation). Yields optimal Whisper WER of 0.409 (median: 0.353 vs 0.364 baseline).</a:t>
            </a:r>
          </a:p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• Step 3: Host-Side DSP Spectral Post-Filter (Phase 8B — Quality Mode)</a:t>
            </a:r>
          </a:p>
          <a:p>
            <a:pPr>
              <a:spcAft>
                <a:spcPts val="12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  Classical Wiener post-filter applied after iSTFT synthesis. Squelches stationary radio hiss, boosting test PESQ from 1.879 to 2.398 (+0.519 delta; Val: 2.413) with STOI 0.944.</a:t>
            </a:r>
          </a:p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• Step 4: INT8 Dynamic Quantization (Phase 8C)</a:t>
            </a:r>
          </a:p>
          <a:p>
            <a:pPr>
              <a:spcAft>
                <a:spcPts val="1200"/>
              </a:spcAft>
              <a:defRPr sz="1200">
                <a:solidFill>
                  <a:srgbClr val="F3F4F6"/>
                </a:solidFill>
                <a:latin typeface="Arial"/>
              </a:defRPr>
            </a:pPr>
            <a:r>
              <a:t>  ONNX Runtime dynamic quantization generated INT8 model (artifacts/branch_a_denoiser_int8.onnx, 6.51 MB) for memory-constrained edge SDR.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Benchmark Results: Tactical Intelligibility &amp; Deployability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Direct comparison against raw degraded baseline and heavy non-deployable baselines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Tactical Mission Flexibility: Quality Mode vs. Intelligibility Mode</a:t>
            </a:r>
          </a:p>
          <a:p>
            <a:pPr>
              <a:spcAft>
                <a:spcPts val="600"/>
              </a:spcAft>
              <a:defRPr sz="1300" b="0">
                <a:solidFill>
                  <a:srgbClr val="F3F4F6"/>
                </a:solidFill>
                <a:latin typeface="Arial"/>
              </a:defRPr>
            </a:pPr>
            <a:r>
              <a:t>In military communications, automated ASR command-and-control requires preserving consonant transients, while human operators in noisy armored cockpits require background hiss squelch.</a:t>
            </a:r>
          </a:p>
          <a:p>
            <a:pPr>
              <a:spcAft>
                <a:spcPts val="600"/>
              </a:spcAft>
              <a:defRPr sz="1500" b="1">
                <a:solidFill>
                  <a:srgbClr val="00F0FF"/>
                </a:solidFill>
                <a:latin typeface="Arial"/>
              </a:defRPr>
            </a:pPr>
            <a:r>
              <a:t>Key Comparative Insights &amp; Canonical Test Set Results:</a:t>
            </a:r>
          </a:p>
          <a:p>
            <a:pPr>
              <a:spcAft>
                <a:spcPts val="600"/>
              </a:spcAft>
              <a:defRPr sz="1300" b="0">
                <a:solidFill>
                  <a:srgbClr val="F3F4F6"/>
                </a:solidFill>
                <a:latin typeface="Arial"/>
              </a:defRPr>
            </a:pPr>
            <a:r>
              <a:t>1. Intelligibility Mode (Branch A + Guard): Minimizes Word Error Rate (0.409 mean / 0.353 median WER vs 0.443 / 0.364 raw degraded) for automated Whisper ingestion.</a:t>
            </a:r>
          </a:p>
          <a:p>
            <a:pPr>
              <a:spcAft>
                <a:spcPts val="600"/>
              </a:spcAft>
              <a:defRPr sz="1300" b="0">
                <a:solidFill>
                  <a:srgbClr val="F3F4F6"/>
                </a:solidFill>
                <a:latin typeface="Arial"/>
              </a:defRPr>
            </a:pPr>
            <a:r>
              <a:t>2. Quality Mode (+ Spectral Post-Filter): Squelches residual static for human ears, achieving a massive +0.52 PESQ jump (1.879 -&gt; 2.398, STOI: 0.944). Toggleable in real time.</a:t>
            </a:r>
          </a:p>
          <a:p>
            <a:pPr>
              <a:spcAft>
                <a:spcPts val="600"/>
              </a:spcAft>
              <a:defRPr sz="1300" b="0">
                <a:solidFill>
                  <a:srgbClr val="F3F4F6"/>
                </a:solidFill>
                <a:latin typeface="Arial"/>
              </a:defRPr>
            </a:pPr>
            <a:r>
              <a:t>3. 100% NPU Residency: 240/240 ops on Hexagon NPU (0 CPU fallback). DeepFilterNet3 cannot be compiled due to complex STFT ops.</a:t>
            </a:r>
          </a:p>
          <a:p>
            <a:pPr>
              <a:spcAft>
                <a:spcPts val="600"/>
              </a:spcAft>
              <a:defRPr sz="1300" b="0">
                <a:solidFill>
                  <a:srgbClr val="F3F4F6"/>
                </a:solidFill>
                <a:latin typeface="Arial"/>
              </a:defRPr>
            </a:pPr>
            <a:r>
              <a:t>4. 77× Real-Time Throughput: 411 µs latency per 32 ms chunk leaves 98.7% of NPU compute budget free for concurrent ASR &amp; crypto.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Out-of-Distribution Robustness: Real Combat Scenarios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Validated on extreme operational acoustic conditions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Tank Heavy Rumble (-5 dB SNR)</a:t>
            </a:r>
          </a:p>
          <a:p>
            <a:pPr>
              <a:defRPr sz="1200">
                <a:solidFill>
                  <a:srgbClr val="F3F4F6"/>
                </a:solidFill>
                <a:latin typeface="Arial"/>
              </a:defRPr>
            </a:pPr>
            <a:r>
              <a:t>Armored column diesel track rumble. Guardrail preserves formant energy and intelligibility.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Urban Firefight (0 dB SNR)</a:t>
            </a:r>
          </a:p>
          <a:p>
            <a:pPr>
              <a:defRPr sz="1200">
                <a:solidFill>
                  <a:srgbClr val="F3F4F6"/>
                </a:solidFill>
                <a:latin typeface="Arial"/>
              </a:defRPr>
            </a:pPr>
            <a:r>
              <a:t>High-crest gunfire impulses and PTT clipping. Soft mask suppresses blast tails.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Rotorcraft Wash (+3 dB SNR)</a:t>
            </a:r>
          </a:p>
          <a:p>
            <a:pPr>
              <a:defRPr sz="1200">
                <a:solidFill>
                  <a:srgbClr val="F3F4F6"/>
                </a:solidFill>
                <a:latin typeface="Arial"/>
              </a:defRPr>
            </a:pPr>
            <a:r>
              <a:t>Cyclic helicopter blade turbulence. Recurrent GRU tracks non-stationary envelope.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Radio Codec2 Drop (+8 dB SNR)</a:t>
            </a:r>
          </a:p>
          <a:p>
            <a:pPr>
              <a:defRPr sz="1200">
                <a:solidFill>
                  <a:srgbClr val="F3F4F6"/>
                </a:solidFill>
                <a:latin typeface="Arial"/>
              </a:defRPr>
            </a:pPr>
            <a:r>
              <a:t>2400 bps vocoder packet loss &amp; RF static. Spectral post-filter cleans noise floor.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3F4F6"/>
                </a:solidFill>
                <a:latin typeface="Arial"/>
              </a:defRPr>
            </a:pPr>
            <a:r>
              <a:t>Interactive Demo &amp; Open-Source Artifacts</a:t>
            </a:r>
          </a:p>
          <a:p>
            <a:pPr>
              <a:defRPr sz="1300">
                <a:solidFill>
                  <a:srgbClr val="00F0FF"/>
                </a:solidFill>
                <a:latin typeface="Arial"/>
              </a:defRPr>
            </a:pPr>
            <a:r>
              <a:t>Complete ecosystem ready for deployment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F0FF"/>
                </a:solidFill>
                <a:latin typeface="Arial"/>
              </a:defRPr>
            </a:pPr>
            <a:r>
              <a:t>✔ Interactive Gradio Web Demo (demo/gradio_app.py)</a:t>
            </a:r>
          </a:p>
          <a:p>
            <a:pPr>
              <a:spcAft>
                <a:spcPts val="600"/>
              </a:spcAft>
              <a:defRPr sz="1100">
                <a:solidFill>
                  <a:srgbClr val="F3F4F6"/>
                </a:solidFill>
                <a:latin typeface="Arial"/>
              </a:defRPr>
            </a:pPr>
            <a:r>
              <a:t>   Live A/B audio player, 3-panel waveform &amp; spectrogram inspection, metrics diffs, and real-time streaming ONNX processing.</a:t>
            </a:r>
          </a:p>
          <a:p>
            <a:pPr>
              <a:defRPr sz="1300" b="1">
                <a:solidFill>
                  <a:srgbClr val="00F0FF"/>
                </a:solidFill>
                <a:latin typeface="Arial"/>
              </a:defRPr>
            </a:pPr>
            <a:r>
              <a:t>✔ Command-Line Engine (demo/app.py)</a:t>
            </a:r>
          </a:p>
          <a:p>
            <a:pPr>
              <a:spcAft>
                <a:spcPts val="600"/>
              </a:spcAft>
              <a:defRPr sz="1100">
                <a:solidFill>
                  <a:srgbClr val="F3F4F6"/>
                </a:solidFill>
                <a:latin typeface="Arial"/>
              </a:defRPr>
            </a:pPr>
            <a:r>
              <a:t>   Batch and single-utterance streaming inference with latency profiling and transcript evaluation.</a:t>
            </a:r>
          </a:p>
          <a:p>
            <a:pPr>
              <a:defRPr sz="1300" b="1">
                <a:solidFill>
                  <a:srgbClr val="00F0FF"/>
                </a:solidFill>
                <a:latin typeface="Arial"/>
              </a:defRPr>
            </a:pPr>
            <a:r>
              <a:t>✔ Deployment Toolchain (deploy/)</a:t>
            </a:r>
          </a:p>
          <a:p>
            <a:pPr>
              <a:spcAft>
                <a:spcPts val="600"/>
              </a:spcAft>
              <a:defRPr sz="1100">
                <a:solidFill>
                  <a:srgbClr val="F3F4F6"/>
                </a:solidFill>
                <a:latin typeface="Arial"/>
              </a:defRPr>
            </a:pPr>
            <a:r>
              <a:t>   ONNX exporter with static tensors, ONNX Runtime numeric parity validator, and INT8 dynamic quantization script.</a:t>
            </a:r>
          </a:p>
          <a:p>
            <a:pPr>
              <a:defRPr sz="1300" b="1">
                <a:solidFill>
                  <a:srgbClr val="00F0FF"/>
                </a:solidFill>
                <a:latin typeface="Arial"/>
              </a:defRPr>
            </a:pPr>
            <a:r>
              <a:t>✔ Full Test &amp; Benchmark Suite (tests/, eval/)</a:t>
            </a:r>
          </a:p>
          <a:p>
            <a:pPr>
              <a:spcAft>
                <a:spcPts val="600"/>
              </a:spcAft>
              <a:defRPr sz="1100">
                <a:solidFill>
                  <a:srgbClr val="F3F4F6"/>
                </a:solidFill>
                <a:latin typeface="Arial"/>
              </a:defRPr>
            </a:pPr>
            <a:r>
              <a:t>   21 unit tests covering all DSP modules, causal convs, STFT, PESQ, STOI, and Whisper WER evaluation.</a:t>
            </a:r>
          </a:p>
          <a:p>
            <a:pPr>
              <a:defRPr sz="1300" b="1">
                <a:solidFill>
                  <a:srgbClr val="00F0FF"/>
                </a:solidFill>
                <a:latin typeface="Arial"/>
              </a:defRPr>
            </a:pPr>
            <a:r>
              <a:t>✔ Qualcomm AI Hub Verified Assets (results/)</a:t>
            </a:r>
          </a:p>
          <a:p>
            <a:pPr>
              <a:spcAft>
                <a:spcPts val="600"/>
              </a:spcAft>
              <a:defRPr sz="1100">
                <a:solidFill>
                  <a:srgbClr val="F3F4F6"/>
                </a:solidFill>
                <a:latin typeface="Arial"/>
              </a:defRPr>
            </a:pPr>
            <a:r>
              <a:t>   Real hardware compile/profile jobs jg9zozmlp and jp1nonj2g targeting Snapdragon X Elite.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